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62627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8821151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2396290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2959165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538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5266045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9841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24837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62401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75694-DE9D-EAA4-8512-37C762E1F7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250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6513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445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027A02-3B54-536C-3205-79043192E1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7691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42666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4384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F40C2D-B316-A4A1-4E02-7358729636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7591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9380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5175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DE1AA7-7769-585E-E579-E8623AEA898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4862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89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502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F1B14C-820E-E759-ABD9-806F324A4F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3099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3285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556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CCB6A-C39C-A81D-3F8F-58768E8E44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1345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0675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722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12712F-196D-8879-D3E3-23B956CC2A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579049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474454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577987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061894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43219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8291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126747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64466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62119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17801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9284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30490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758303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44214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14727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0913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21989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018986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027213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4493292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195775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2792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00697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2882400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4975100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6049251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794383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6635025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9179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5557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875349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9259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981082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32912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248926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683840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10908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422217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772915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88457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571674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231960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842185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324889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1984042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2976886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2158222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5881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9965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991164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634376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414953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85123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05688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5471712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01164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392654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457474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9749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57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597100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7077124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5726801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0121594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3333" r="0" b="-3331"/>
            </a:stretch>
          </a:blipFill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grpSp>
        <p:nvGrpSpPr>
          <p:cNvPr id="717591331" name="Group 3"/>
          <p:cNvGrpSpPr/>
          <p:nvPr/>
        </p:nvGrpSpPr>
        <p:grpSpPr bwMode="auto">
          <a:xfrm rot="0">
            <a:off x="858220" y="870823"/>
            <a:ext cx="16571560" cy="8545354"/>
            <a:chOff x="0" y="0"/>
            <a:chExt cx="4364526" cy="2250628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4364526" cy="2250628"/>
            </a:xfrm>
            <a:custGeom>
              <a:avLst/>
              <a:gdLst/>
              <a:ahLst/>
              <a:cxnLst/>
              <a:rect l="l" t="t" r="r" b="b"/>
              <a:pathLst>
                <a:path w="4364526" h="2250628" fill="norm" stroke="1" extrusionOk="0">
                  <a:moveTo>
                    <a:pt x="23826" y="0"/>
                  </a:moveTo>
                  <a:lnTo>
                    <a:pt x="4340700" y="0"/>
                  </a:lnTo>
                  <a:cubicBezTo>
                    <a:pt x="4347019" y="0"/>
                    <a:pt x="4353079" y="2510"/>
                    <a:pt x="4357548" y="6979"/>
                  </a:cubicBezTo>
                  <a:cubicBezTo>
                    <a:pt x="4362016" y="11447"/>
                    <a:pt x="4364526" y="17507"/>
                    <a:pt x="4364526" y="23826"/>
                  </a:cubicBezTo>
                  <a:lnTo>
                    <a:pt x="4364526" y="2226802"/>
                  </a:lnTo>
                  <a:cubicBezTo>
                    <a:pt x="4364526" y="2233121"/>
                    <a:pt x="4362016" y="2239182"/>
                    <a:pt x="4357548" y="2243650"/>
                  </a:cubicBezTo>
                  <a:cubicBezTo>
                    <a:pt x="4353079" y="2248118"/>
                    <a:pt x="4347019" y="2250628"/>
                    <a:pt x="4340700" y="2250628"/>
                  </a:cubicBezTo>
                  <a:lnTo>
                    <a:pt x="23826" y="2250628"/>
                  </a:lnTo>
                  <a:cubicBezTo>
                    <a:pt x="17507" y="2250628"/>
                    <a:pt x="11447" y="2248118"/>
                    <a:pt x="6979" y="2243650"/>
                  </a:cubicBezTo>
                  <a:cubicBezTo>
                    <a:pt x="2510" y="2239182"/>
                    <a:pt x="0" y="2233121"/>
                    <a:pt x="0" y="2226802"/>
                  </a:cubicBezTo>
                  <a:lnTo>
                    <a:pt x="0" y="23826"/>
                  </a:lnTo>
                  <a:cubicBezTo>
                    <a:pt x="0" y="17507"/>
                    <a:pt x="2510" y="11447"/>
                    <a:pt x="6979" y="6979"/>
                  </a:cubicBezTo>
                  <a:cubicBezTo>
                    <a:pt x="11447" y="2510"/>
                    <a:pt x="17507" y="0"/>
                    <a:pt x="23826" y="0"/>
                  </a:cubicBezTo>
                  <a:close/>
                </a:path>
              </a:pathLst>
            </a:custGeom>
            <a:grpFill/>
            <a:ln w="47625" cap="rnd">
              <a:solidFill>
                <a:srgbClr val="F4FFFF"/>
              </a:solidFill>
              <a:prstDash val="solid"/>
              <a:round/>
            </a:ln>
          </p:spPr>
          <p:txBody>
            <a:bodyPr anchor="ctr"/>
            <a:p>
              <a:pPr algn="ctr">
                <a:defRPr/>
              </a:pPr>
              <a:endParaRPr>
                <a:latin typeface="Iosevka"/>
                <a:cs typeface="Iosevka"/>
              </a:endParaRPr>
            </a:p>
          </p:txBody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4364526" cy="228872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ts val="0"/>
                </a:spcBef>
                <a:defRPr/>
              </a:pPr>
              <a:endParaRPr>
                <a:latin typeface="Iosevka"/>
                <a:cs typeface="Iosevka"/>
              </a:endParaRPr>
            </a:p>
          </p:txBody>
        </p:sp>
      </p:grpSp>
      <p:sp>
        <p:nvSpPr>
          <p:cNvPr id="449591621" name="Freeform 6"/>
          <p:cNvSpPr/>
          <p:nvPr/>
        </p:nvSpPr>
        <p:spPr bwMode="auto">
          <a:xfrm rot="0" flipH="0" flipV="0">
            <a:off x="14708244" y="1936081"/>
            <a:ext cx="1510439" cy="364393"/>
          </a:xfrm>
          <a:custGeom>
            <a:avLst/>
            <a:gdLst/>
            <a:ahLst/>
            <a:cxnLst/>
            <a:rect l="l" t="t" r="r" b="b"/>
            <a:pathLst>
              <a:path w="1510439" h="364393" fill="norm" stroke="1" extrusionOk="0">
                <a:moveTo>
                  <a:pt x="0" y="0"/>
                </a:moveTo>
                <a:lnTo>
                  <a:pt x="1510439" y="0"/>
                </a:lnTo>
                <a:lnTo>
                  <a:pt x="1510439" y="364394"/>
                </a:lnTo>
                <a:lnTo>
                  <a:pt x="0" y="364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sp>
        <p:nvSpPr>
          <p:cNvPr id="1854584396" name="Freeform 7"/>
          <p:cNvSpPr/>
          <p:nvPr/>
        </p:nvSpPr>
        <p:spPr bwMode="auto">
          <a:xfrm rot="0" flipH="0" flipV="0">
            <a:off x="2097892" y="1872396"/>
            <a:ext cx="355299" cy="491764"/>
          </a:xfrm>
          <a:custGeom>
            <a:avLst/>
            <a:gdLst/>
            <a:ahLst/>
            <a:cxnLst/>
            <a:rect l="l" t="t" r="r" b="b"/>
            <a:pathLst>
              <a:path w="355300" h="491764" fill="norm" stroke="1" extrusionOk="0">
                <a:moveTo>
                  <a:pt x="0" y="0"/>
                </a:moveTo>
                <a:lnTo>
                  <a:pt x="355300" y="0"/>
                </a:lnTo>
                <a:lnTo>
                  <a:pt x="355300" y="491764"/>
                </a:lnTo>
                <a:lnTo>
                  <a:pt x="0" y="491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sp>
        <p:nvSpPr>
          <p:cNvPr id="1800675784" name="TextBox 9"/>
          <p:cNvSpPr txBox="1"/>
          <p:nvPr/>
        </p:nvSpPr>
        <p:spPr bwMode="auto">
          <a:xfrm rot="0">
            <a:off x="3164079" y="3835027"/>
            <a:ext cx="11964159" cy="1105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00"/>
              </a:lnSpc>
              <a:defRPr/>
            </a:pPr>
            <a:r>
              <a:rPr lang="en-US" sz="8700" b="1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MindCache</a:t>
            </a:r>
            <a:endParaRPr>
              <a:latin typeface="Iosevka"/>
              <a:cs typeface="Iosevka"/>
            </a:endParaRPr>
          </a:p>
        </p:txBody>
      </p:sp>
      <p:sp>
        <p:nvSpPr>
          <p:cNvPr id="2011489110" name="TextBox 10"/>
          <p:cNvSpPr txBox="1"/>
          <p:nvPr/>
        </p:nvSpPr>
        <p:spPr bwMode="auto">
          <a:xfrm rot="0">
            <a:off x="4882327" y="4940287"/>
            <a:ext cx="8527664" cy="31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  <a:defRPr/>
            </a:pPr>
            <a:r>
              <a:rPr lang="en-US" sz="25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Your Personal Browser Memory Engine</a:t>
            </a:r>
            <a:endParaRPr>
              <a:latin typeface="Iosevka"/>
              <a:cs typeface="Iosevka"/>
            </a:endParaRPr>
          </a:p>
        </p:txBody>
      </p:sp>
      <p:sp>
        <p:nvSpPr>
          <p:cNvPr id="1804176248" name="TextBox 11"/>
          <p:cNvSpPr txBox="1"/>
          <p:nvPr/>
        </p:nvSpPr>
        <p:spPr bwMode="auto">
          <a:xfrm rot="0" flipH="0" flipV="0">
            <a:off x="2593014" y="2009692"/>
            <a:ext cx="1519143" cy="22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  <a:defRPr/>
            </a:pPr>
            <a:r>
              <a:rPr lang="en-US" sz="2000" b="1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Cognis</a:t>
            </a:r>
            <a:endParaRPr sz="2000">
              <a:latin typeface="Iosevka"/>
              <a:cs typeface="Iosevk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01D2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114217" name="Freeform 3"/>
          <p:cNvSpPr/>
          <p:nvPr/>
        </p:nvSpPr>
        <p:spPr bwMode="auto">
          <a:xfrm rot="0" flipH="0" flipV="0">
            <a:off x="15748861" y="846503"/>
            <a:ext cx="1510439" cy="364393"/>
          </a:xfrm>
          <a:custGeom>
            <a:avLst/>
            <a:gdLst/>
            <a:ahLst/>
            <a:cxnLst/>
            <a:rect l="l" t="t" r="r" b="b"/>
            <a:pathLst>
              <a:path w="1510439" h="364393" fill="norm" stroke="1" extrusionOk="0">
                <a:moveTo>
                  <a:pt x="0" y="0"/>
                </a:moveTo>
                <a:lnTo>
                  <a:pt x="1510439" y="0"/>
                </a:lnTo>
                <a:lnTo>
                  <a:pt x="1510439" y="364394"/>
                </a:lnTo>
                <a:lnTo>
                  <a:pt x="0" y="364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sp>
        <p:nvSpPr>
          <p:cNvPr id="2098109328" name="AutoShape 4"/>
          <p:cNvSpPr/>
          <p:nvPr/>
        </p:nvSpPr>
        <p:spPr bwMode="auto">
          <a:xfrm>
            <a:off x="7575013" y="1009650"/>
            <a:ext cx="313797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32083495" name="Freeform 5"/>
          <p:cNvSpPr/>
          <p:nvPr/>
        </p:nvSpPr>
        <p:spPr bwMode="auto">
          <a:xfrm rot="0" flipH="0" flipV="0">
            <a:off x="1028700" y="2217420"/>
            <a:ext cx="5684994" cy="7040880"/>
          </a:xfrm>
          <a:custGeom>
            <a:avLst/>
            <a:gdLst/>
            <a:ahLst/>
            <a:cxnLst/>
            <a:rect l="l" t="t" r="r" b="b"/>
            <a:pathLst>
              <a:path w="5684994" h="7040880" fill="norm" stroke="1" extrusionOk="0">
                <a:moveTo>
                  <a:pt x="0" y="0"/>
                </a:moveTo>
                <a:lnTo>
                  <a:pt x="5684994" y="0"/>
                </a:lnTo>
                <a:lnTo>
                  <a:pt x="5684994" y="7040880"/>
                </a:lnTo>
                <a:lnTo>
                  <a:pt x="0" y="7040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sp>
        <p:nvSpPr>
          <p:cNvPr id="448415359" name="TextBox 7"/>
          <p:cNvSpPr txBox="1"/>
          <p:nvPr/>
        </p:nvSpPr>
        <p:spPr bwMode="auto">
          <a:xfrm rot="0" flipH="0" flipV="0">
            <a:off x="8192329" y="2089472"/>
            <a:ext cx="9069129" cy="182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  <a:defRPr/>
            </a:pPr>
            <a:r>
              <a:rPr lang="en-US" sz="60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Humans remember ideas. </a:t>
            </a:r>
            <a:endParaRPr sz="6000" b="1" i="0" u="none" strike="noStrike" cap="none" spc="0">
              <a:solidFill>
                <a:srgbClr val="F4FFFF"/>
              </a:solidFill>
              <a:latin typeface="Iosevka"/>
              <a:ea typeface="Iosevka"/>
              <a:cs typeface="Iosevka"/>
            </a:endParaRPr>
          </a:p>
          <a:p>
            <a:pPr algn="l">
              <a:lnSpc>
                <a:spcPts val="7199"/>
              </a:lnSpc>
              <a:defRPr/>
            </a:pPr>
            <a:r>
              <a:rPr lang="en-US" sz="60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Browsers remember URLs.</a:t>
            </a:r>
            <a:endParaRPr sz="6000">
              <a:latin typeface="Iosevka"/>
              <a:cs typeface="Iosevka"/>
            </a:endParaRPr>
          </a:p>
        </p:txBody>
      </p:sp>
      <p:sp>
        <p:nvSpPr>
          <p:cNvPr id="856291702" name="TextBox 8"/>
          <p:cNvSpPr txBox="1"/>
          <p:nvPr/>
        </p:nvSpPr>
        <p:spPr bwMode="auto">
          <a:xfrm rot="0" flipH="0" flipV="0">
            <a:off x="8192329" y="4200681"/>
            <a:ext cx="9194049" cy="511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  <a:defRPr/>
            </a:pPr>
            <a:r>
              <a:rPr lang="en-US" sz="21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We Consume More Than We Remember</a:t>
            </a:r>
            <a:r>
              <a:rPr lang="en-US" sz="210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.</a:t>
            </a:r>
            <a:endParaRPr lang="en-US" sz="2100">
              <a:solidFill>
                <a:srgbClr val="F4FFFF"/>
              </a:solidFill>
              <a:latin typeface="Iosevka"/>
              <a:ea typeface="Iosevka"/>
              <a:cs typeface="Iosevka"/>
            </a:endParaRPr>
          </a:p>
          <a:p>
            <a:pPr algn="l">
              <a:lnSpc>
                <a:spcPts val="2308"/>
              </a:lnSpc>
              <a:defRPr/>
            </a:pPr>
            <a:endParaRPr>
              <a:latin typeface="Iosevka"/>
              <a:cs typeface="Iosevka"/>
            </a:endParaRPr>
          </a:p>
          <a:p>
            <a:pPr>
              <a:defRPr/>
            </a:pPr>
            <a:r>
              <a:rPr lang="en-US" sz="210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Everyday we read </a:t>
            </a:r>
            <a:r>
              <a:rPr lang="en-US" sz="21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Read articles</a:t>
            </a:r>
            <a:r>
              <a:rPr lang="en-US" sz="21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, </a:t>
            </a:r>
            <a:r>
              <a:rPr lang="en-US" sz="21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Watch YouTube videos, </a:t>
            </a:r>
            <a:r>
              <a:rPr lang="en-US" sz="21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Browse GitHub repositories, </a:t>
            </a:r>
            <a:r>
              <a:rPr lang="en-US" sz="21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Open PDFs and research papers ...</a:t>
            </a:r>
            <a:endParaRPr lang="en-US" sz="2100" b="0" i="0" u="none" strike="noStrike" cap="none" spc="0">
              <a:solidFill>
                <a:srgbClr val="F4FFFF"/>
              </a:solidFill>
              <a:latin typeface="Iosevka"/>
              <a:ea typeface="Iosevka"/>
              <a:cs typeface="Iosevka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21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But days later we remember ~ </a:t>
            </a:r>
            <a:endParaRPr lang="en-US" sz="2100" b="0" i="0" u="none" strike="noStrike" cap="none" spc="0">
              <a:solidFill>
                <a:srgbClr val="F4FFFF"/>
              </a:solidFill>
              <a:latin typeface="Iosevka"/>
              <a:ea typeface="Iosevka"/>
              <a:cs typeface="Iosevka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26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"that rust pdf parser"</a:t>
            </a:r>
            <a:endParaRPr sz="2600" b="1" i="0" u="none" strike="noStrike" cap="none" spc="0">
              <a:solidFill>
                <a:srgbClr val="F4FFFF"/>
              </a:solidFill>
              <a:latin typeface="Iosevka"/>
              <a:cs typeface="Iosevka"/>
            </a:endParaRPr>
          </a:p>
          <a:p>
            <a:pPr>
              <a:defRPr/>
            </a:pPr>
            <a:r>
              <a:rPr lang="en-US" sz="26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"that paper about transformers"</a:t>
            </a:r>
            <a:endParaRPr sz="2600" b="1" i="0" u="none" strike="noStrike" cap="none" spc="0">
              <a:solidFill>
                <a:srgbClr val="F4FFFF"/>
              </a:solidFill>
              <a:latin typeface="Iosevka"/>
              <a:cs typeface="Iosevka"/>
            </a:endParaRPr>
          </a:p>
          <a:p>
            <a:pPr>
              <a:defRPr/>
            </a:pPr>
            <a:r>
              <a:rPr lang="en-US" sz="26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"that youtube video explaining RAG"</a:t>
            </a:r>
            <a:endParaRPr lang="en-US" sz="2600" b="1" i="0" u="none" strike="noStrike" cap="none" spc="0">
              <a:solidFill>
                <a:srgbClr val="F4FFFF"/>
              </a:solidFill>
              <a:latin typeface="Iosevka"/>
              <a:ea typeface="Iosevka"/>
              <a:cs typeface="Iosevka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21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We do </a:t>
            </a:r>
            <a:r>
              <a:rPr lang="en-US" sz="21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NOT </a:t>
            </a:r>
            <a:r>
              <a:rPr lang="en-US" sz="21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remember ~ URLs, Titles or Bookmarks</a:t>
            </a:r>
            <a:endParaRPr lang="en-US" sz="2100" b="0" i="0" u="none" strike="noStrike" cap="none" spc="0">
              <a:solidFill>
                <a:srgbClr val="F4FFFF"/>
              </a:solidFill>
              <a:latin typeface="Iosevka"/>
              <a:ea typeface="Iosevka"/>
              <a:cs typeface="Iosevka"/>
            </a:endParaRPr>
          </a:p>
          <a:p>
            <a:pPr>
              <a:defRPr/>
            </a:pPr>
            <a:endParaRPr sz="1200"/>
          </a:p>
          <a:p>
            <a:pPr>
              <a:defRPr/>
            </a:pPr>
            <a:endParaRPr sz="1200"/>
          </a:p>
          <a:p>
            <a:pPr>
              <a:defRPr/>
            </a:pPr>
            <a:r>
              <a:rPr lang="en-US" sz="21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Current Solutions ? Browser History, Bookmarks, Open Tabs ...</a:t>
            </a:r>
            <a:endParaRPr lang="en-US" sz="2100" b="0" i="0" u="none" strike="noStrike" cap="none" spc="0">
              <a:solidFill>
                <a:srgbClr val="F4FFFF"/>
              </a:solidFill>
              <a:latin typeface="Iosevka"/>
              <a:ea typeface="Iosevka"/>
              <a:cs typeface="Iosevka"/>
            </a:endParaRPr>
          </a:p>
          <a:p>
            <a:pPr>
              <a:defRPr/>
            </a:pPr>
            <a:endParaRPr sz="1200"/>
          </a:p>
          <a:p>
            <a:pPr>
              <a:defRPr/>
            </a:pPr>
            <a:r>
              <a:rPr lang="en-US" sz="24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BUT Knowledge </a:t>
            </a:r>
            <a:r>
              <a:rPr lang="en-US" sz="24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is found once and then lost.</a:t>
            </a:r>
            <a:endParaRPr sz="1200"/>
          </a:p>
        </p:txBody>
      </p:sp>
      <p:sp>
        <p:nvSpPr>
          <p:cNvPr id="1837195711" name="Freeform 7"/>
          <p:cNvSpPr/>
          <p:nvPr/>
        </p:nvSpPr>
        <p:spPr bwMode="auto">
          <a:xfrm rot="0" flipH="0" flipV="0">
            <a:off x="1028700" y="782816"/>
            <a:ext cx="355298" cy="491763"/>
          </a:xfrm>
          <a:custGeom>
            <a:avLst/>
            <a:gdLst/>
            <a:ahLst/>
            <a:cxnLst/>
            <a:rect l="l" t="t" r="r" b="b"/>
            <a:pathLst>
              <a:path w="355300" h="491764" fill="norm" stroke="1" extrusionOk="0">
                <a:moveTo>
                  <a:pt x="0" y="0"/>
                </a:moveTo>
                <a:lnTo>
                  <a:pt x="355300" y="0"/>
                </a:lnTo>
                <a:lnTo>
                  <a:pt x="355300" y="491764"/>
                </a:lnTo>
                <a:lnTo>
                  <a:pt x="0" y="491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sp>
        <p:nvSpPr>
          <p:cNvPr id="173943911" name="TextBox 11"/>
          <p:cNvSpPr txBox="1"/>
          <p:nvPr/>
        </p:nvSpPr>
        <p:spPr bwMode="auto">
          <a:xfrm rot="0" flipH="0" flipV="0">
            <a:off x="1523823" y="920114"/>
            <a:ext cx="1519502" cy="22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lang="en-US" sz="2000" b="1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Cognis</a:t>
            </a:r>
            <a:endParaRPr sz="2000">
              <a:latin typeface="Iosevka"/>
              <a:cs typeface="Iosevk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5396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063008" name="Freeform 3"/>
          <p:cNvSpPr/>
          <p:nvPr/>
        </p:nvSpPr>
        <p:spPr bwMode="auto">
          <a:xfrm rot="0" flipH="0" flipV="0">
            <a:off x="15748861" y="846503"/>
            <a:ext cx="1510439" cy="364393"/>
          </a:xfrm>
          <a:custGeom>
            <a:avLst/>
            <a:gdLst/>
            <a:ahLst/>
            <a:cxnLst/>
            <a:rect l="l" t="t" r="r" b="b"/>
            <a:pathLst>
              <a:path w="1510439" h="364393" fill="norm" stroke="1" extrusionOk="0">
                <a:moveTo>
                  <a:pt x="0" y="0"/>
                </a:moveTo>
                <a:lnTo>
                  <a:pt x="1510439" y="0"/>
                </a:lnTo>
                <a:lnTo>
                  <a:pt x="1510439" y="364394"/>
                </a:lnTo>
                <a:lnTo>
                  <a:pt x="0" y="364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sp>
        <p:nvSpPr>
          <p:cNvPr id="431623541" name="AutoShape 4"/>
          <p:cNvSpPr/>
          <p:nvPr/>
        </p:nvSpPr>
        <p:spPr bwMode="auto">
          <a:xfrm>
            <a:off x="7575013" y="1009650"/>
            <a:ext cx="313797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45965025" name="Freeform 5"/>
          <p:cNvSpPr/>
          <p:nvPr/>
        </p:nvSpPr>
        <p:spPr bwMode="auto">
          <a:xfrm rot="0" flipH="0" flipV="0">
            <a:off x="11273887" y="2462331"/>
            <a:ext cx="1224076" cy="1224076"/>
          </a:xfrm>
          <a:custGeom>
            <a:avLst/>
            <a:gdLst/>
            <a:ahLst/>
            <a:cxnLst/>
            <a:rect l="l" t="t" r="r" b="b"/>
            <a:pathLst>
              <a:path w="1224076" h="1224076" fill="norm" stroke="1" extrusionOk="0">
                <a:moveTo>
                  <a:pt x="0" y="0"/>
                </a:moveTo>
                <a:lnTo>
                  <a:pt x="1224077" y="0"/>
                </a:lnTo>
                <a:lnTo>
                  <a:pt x="1224077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sp>
        <p:nvSpPr>
          <p:cNvPr id="1263620292" name="Freeform 6"/>
          <p:cNvSpPr/>
          <p:nvPr/>
        </p:nvSpPr>
        <p:spPr bwMode="auto">
          <a:xfrm rot="0" flipH="0" flipV="0">
            <a:off x="11273887" y="5933143"/>
            <a:ext cx="1224076" cy="1201125"/>
          </a:xfrm>
          <a:custGeom>
            <a:avLst/>
            <a:gdLst/>
            <a:ahLst/>
            <a:cxnLst/>
            <a:rect l="l" t="t" r="r" b="b"/>
            <a:pathLst>
              <a:path w="1224076" h="1201125" fill="norm" stroke="1" extrusionOk="0">
                <a:moveTo>
                  <a:pt x="0" y="0"/>
                </a:moveTo>
                <a:lnTo>
                  <a:pt x="1224077" y="0"/>
                </a:lnTo>
                <a:lnTo>
                  <a:pt x="1224077" y="1201125"/>
                </a:lnTo>
                <a:lnTo>
                  <a:pt x="0" y="1201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sp>
        <p:nvSpPr>
          <p:cNvPr id="76151531" name="Freeform 7"/>
          <p:cNvSpPr/>
          <p:nvPr/>
        </p:nvSpPr>
        <p:spPr bwMode="auto">
          <a:xfrm rot="0" flipH="0" flipV="0">
            <a:off x="11273887" y="7778583"/>
            <a:ext cx="1224076" cy="1107789"/>
          </a:xfrm>
          <a:custGeom>
            <a:avLst/>
            <a:gdLst/>
            <a:ahLst/>
            <a:cxnLst/>
            <a:rect l="l" t="t" r="r" b="b"/>
            <a:pathLst>
              <a:path w="1224076" h="1107789" fill="norm" stroke="1" extrusionOk="0">
                <a:moveTo>
                  <a:pt x="0" y="0"/>
                </a:moveTo>
                <a:lnTo>
                  <a:pt x="1224077" y="0"/>
                </a:lnTo>
                <a:lnTo>
                  <a:pt x="1224077" y="1107789"/>
                </a:lnTo>
                <a:lnTo>
                  <a:pt x="0" y="11077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sp>
        <p:nvSpPr>
          <p:cNvPr id="1829249248" name="TextBox 8"/>
          <p:cNvSpPr txBox="1"/>
          <p:nvPr/>
        </p:nvSpPr>
        <p:spPr bwMode="auto">
          <a:xfrm rot="0">
            <a:off x="971834" y="2462330"/>
            <a:ext cx="7617404" cy="182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  <a:defRPr/>
            </a:pPr>
            <a:r>
              <a:rPr lang="en-US" sz="72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Introducing MindCache</a:t>
            </a:r>
            <a:r>
              <a:rPr lang="en-US" sz="7200" b="1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 ...</a:t>
            </a:r>
            <a:endParaRPr>
              <a:latin typeface="Iosevka"/>
              <a:cs typeface="Iosevka"/>
            </a:endParaRPr>
          </a:p>
        </p:txBody>
      </p:sp>
      <p:sp>
        <p:nvSpPr>
          <p:cNvPr id="1217682191" name="TextBox 10"/>
          <p:cNvSpPr txBox="1"/>
          <p:nvPr/>
        </p:nvSpPr>
        <p:spPr bwMode="auto">
          <a:xfrm rot="0" flipH="0" flipV="0">
            <a:off x="12972905" y="2695093"/>
            <a:ext cx="4288554" cy="75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5"/>
              </a:lnSpc>
              <a:defRPr/>
            </a:pPr>
            <a:r>
              <a:rPr lang="en-US" sz="3000" b="1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Tracks Valuable Content</a:t>
            </a:r>
            <a:endParaRPr>
              <a:latin typeface="Iosevka"/>
              <a:cs typeface="Iosevka"/>
            </a:endParaRPr>
          </a:p>
        </p:txBody>
      </p:sp>
      <p:sp>
        <p:nvSpPr>
          <p:cNvPr id="737244893" name="TextBox 11"/>
          <p:cNvSpPr txBox="1"/>
          <p:nvPr/>
        </p:nvSpPr>
        <p:spPr bwMode="auto">
          <a:xfrm rot="0" flipH="0" flipV="0">
            <a:off x="12949639" y="6154430"/>
            <a:ext cx="4313259" cy="75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5"/>
              </a:lnSpc>
              <a:defRPr/>
            </a:pPr>
            <a:r>
              <a:rPr lang="en-US" sz="30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Builds A Personal Knowledge Base</a:t>
            </a:r>
            <a:endParaRPr>
              <a:latin typeface="Iosevka"/>
              <a:cs typeface="Iosevka"/>
            </a:endParaRPr>
          </a:p>
        </p:txBody>
      </p:sp>
      <p:sp>
        <p:nvSpPr>
          <p:cNvPr id="1099686411" name="TextBox 12"/>
          <p:cNvSpPr txBox="1"/>
          <p:nvPr/>
        </p:nvSpPr>
        <p:spPr bwMode="auto">
          <a:xfrm rot="0" flipH="0" flipV="0">
            <a:off x="12987058" y="4596743"/>
            <a:ext cx="4287114" cy="379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5"/>
              </a:lnSpc>
              <a:defRPr/>
            </a:pPr>
            <a:r>
              <a:rPr lang="en-US" sz="3000" b="1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Extracts Knowledge</a:t>
            </a:r>
            <a:endParaRPr>
              <a:latin typeface="Iosevka"/>
              <a:cs typeface="Iosevka"/>
            </a:endParaRPr>
          </a:p>
        </p:txBody>
      </p:sp>
      <p:sp>
        <p:nvSpPr>
          <p:cNvPr id="516497110" name="TextBox 13"/>
          <p:cNvSpPr txBox="1"/>
          <p:nvPr/>
        </p:nvSpPr>
        <p:spPr bwMode="auto">
          <a:xfrm rot="0" flipH="0" flipV="0">
            <a:off x="12960192" y="7929663"/>
            <a:ext cx="4313979" cy="75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5"/>
              </a:lnSpc>
              <a:defRPr/>
            </a:pPr>
            <a:r>
              <a:rPr lang="en-US" sz="30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Allows natural language search</a:t>
            </a:r>
            <a:endParaRPr>
              <a:latin typeface="Iosevka"/>
              <a:cs typeface="Iosevka"/>
            </a:endParaRPr>
          </a:p>
        </p:txBody>
      </p:sp>
      <p:sp>
        <p:nvSpPr>
          <p:cNvPr id="209799785" name="TextBox 14"/>
          <p:cNvSpPr txBox="1"/>
          <p:nvPr/>
        </p:nvSpPr>
        <p:spPr bwMode="auto">
          <a:xfrm rot="0">
            <a:off x="1028700" y="5374068"/>
            <a:ext cx="7951670" cy="307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9"/>
              </a:lnSpc>
              <a:defRPr/>
            </a:pPr>
            <a:r>
              <a:rPr lang="en-US" sz="210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You Search For ~ </a:t>
            </a:r>
            <a:br>
              <a:rPr lang="en-US" sz="2100">
                <a:solidFill>
                  <a:srgbClr val="F4FFFF"/>
                </a:solidFill>
                <a:latin typeface="Iosevka"/>
                <a:ea typeface="Iosevka"/>
                <a:cs typeface="Iosevka"/>
              </a:rPr>
            </a:br>
            <a:br>
              <a:rPr lang="en-US" sz="2100">
                <a:solidFill>
                  <a:srgbClr val="F4FFFF"/>
                </a:solidFill>
                <a:latin typeface="Iosevka"/>
                <a:ea typeface="Iosevka"/>
                <a:cs typeface="Iosevka"/>
              </a:rPr>
            </a:br>
            <a:r>
              <a:rPr lang="en-US" sz="210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“</a:t>
            </a:r>
            <a:r>
              <a:rPr lang="en-US" sz="24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that video about RAG pipelines”</a:t>
            </a:r>
            <a:endParaRPr lang="en-US" sz="2400" b="1">
              <a:solidFill>
                <a:srgbClr val="F4FFFF"/>
              </a:solidFill>
              <a:latin typeface="Iosevka"/>
              <a:ea typeface="Iosevka"/>
              <a:cs typeface="Iosevka"/>
            </a:endParaRPr>
          </a:p>
          <a:p>
            <a:pPr algn="l">
              <a:lnSpc>
                <a:spcPts val="2308"/>
              </a:lnSpc>
              <a:defRPr/>
            </a:pPr>
            <a:endParaRPr sz="2100" b="0">
              <a:latin typeface="Iosevka"/>
              <a:cs typeface="Iosevka"/>
            </a:endParaRPr>
          </a:p>
          <a:p>
            <a:pPr algn="l">
              <a:lnSpc>
                <a:spcPts val="2308"/>
              </a:lnSpc>
              <a:defRPr/>
            </a:pPr>
            <a:r>
              <a:rPr lang="en-US" sz="21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MindCache instantly retrieves ~</a:t>
            </a:r>
            <a:endParaRPr lang="en-US" sz="2100" b="0" i="0" u="none" strike="noStrike" cap="none" spc="0">
              <a:solidFill>
                <a:srgbClr val="F4FFFF"/>
              </a:solidFill>
              <a:latin typeface="Iosevka"/>
              <a:ea typeface="Iosevka"/>
              <a:cs typeface="Iosevka"/>
            </a:endParaRPr>
          </a:p>
          <a:p>
            <a:pPr algn="l">
              <a:lnSpc>
                <a:spcPts val="2308"/>
              </a:lnSpc>
              <a:defRPr/>
            </a:pPr>
            <a:endParaRPr sz="2100" b="0">
              <a:latin typeface="Iosevka"/>
              <a:cs typeface="Iosevka"/>
            </a:endParaRPr>
          </a:p>
          <a:p>
            <a:pPr>
              <a:defRPr/>
            </a:pPr>
            <a:r>
              <a:rPr lang="en-US" sz="24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“</a:t>
            </a:r>
            <a:r>
              <a:rPr lang="en-US" sz="24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Is RAG Still Needed?</a:t>
            </a:r>
            <a:r>
              <a:rPr lang="en-US" sz="24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 Choosing best LLM approach.”</a:t>
            </a:r>
            <a:endParaRPr sz="2400" b="1" i="0" u="none" strike="noStrike" cap="none" spc="0">
              <a:solidFill>
                <a:srgbClr val="F4FFFF"/>
              </a:solidFill>
              <a:latin typeface="Iosevka"/>
              <a:cs typeface="Iosevka"/>
            </a:endParaRPr>
          </a:p>
          <a:p>
            <a:pPr>
              <a:defRPr/>
            </a:pPr>
            <a:r>
              <a:rPr lang="en-US" sz="24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“</a:t>
            </a:r>
            <a:r>
              <a:rPr lang="en-US" sz="24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What is Retrieval-Augmented Generation (RAG)?</a:t>
            </a:r>
            <a:r>
              <a:rPr lang="en-US" sz="24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”</a:t>
            </a:r>
            <a:endParaRPr sz="2400" b="1" i="0" u="none" strike="noStrike" cap="none" spc="0">
              <a:solidFill>
                <a:srgbClr val="F4FFFF"/>
              </a:solidFill>
              <a:latin typeface="Iosevka"/>
              <a:cs typeface="Iosevka"/>
            </a:endParaRPr>
          </a:p>
          <a:p>
            <a:pPr algn="l">
              <a:lnSpc>
                <a:spcPts val="2308"/>
              </a:lnSpc>
              <a:defRPr/>
            </a:pPr>
            <a:endParaRPr sz="2100" b="0">
              <a:latin typeface="Iosevka"/>
              <a:cs typeface="Iosevka"/>
            </a:endParaRPr>
          </a:p>
          <a:p>
            <a:pPr algn="l">
              <a:lnSpc>
                <a:spcPts val="2308"/>
              </a:lnSpc>
              <a:defRPr/>
            </a:pPr>
            <a:r>
              <a:rPr lang="en-US" sz="28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All </a:t>
            </a:r>
            <a:r>
              <a:rPr lang="en-US" sz="28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from your history</a:t>
            </a:r>
            <a:r>
              <a:rPr lang="en-US" sz="28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 ...</a:t>
            </a:r>
            <a:endParaRPr sz="2100" b="0">
              <a:latin typeface="Iosevka"/>
              <a:cs typeface="Iosevka"/>
            </a:endParaRPr>
          </a:p>
        </p:txBody>
      </p:sp>
      <p:sp>
        <p:nvSpPr>
          <p:cNvPr id="1982008853" name="Freeform 19"/>
          <p:cNvSpPr/>
          <p:nvPr/>
        </p:nvSpPr>
        <p:spPr bwMode="auto">
          <a:xfrm rot="0" flipH="0" flipV="0">
            <a:off x="11357206" y="4263338"/>
            <a:ext cx="1060852" cy="1046266"/>
          </a:xfrm>
          <a:custGeom>
            <a:avLst/>
            <a:gdLst/>
            <a:ahLst/>
            <a:cxnLst/>
            <a:rect l="l" t="t" r="r" b="b"/>
            <a:pathLst>
              <a:path w="1060852" h="1046266" fill="norm" stroke="1" extrusionOk="0">
                <a:moveTo>
                  <a:pt x="0" y="0"/>
                </a:moveTo>
                <a:lnTo>
                  <a:pt x="1060852" y="0"/>
                </a:lnTo>
                <a:lnTo>
                  <a:pt x="1060852" y="1046266"/>
                </a:lnTo>
                <a:lnTo>
                  <a:pt x="0" y="10462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sp>
        <p:nvSpPr>
          <p:cNvPr id="1070278140" name="Freeform 7"/>
          <p:cNvSpPr/>
          <p:nvPr/>
        </p:nvSpPr>
        <p:spPr bwMode="auto">
          <a:xfrm rot="0" flipH="0" flipV="0">
            <a:off x="1028700" y="782816"/>
            <a:ext cx="355298" cy="491763"/>
          </a:xfrm>
          <a:custGeom>
            <a:avLst/>
            <a:gdLst/>
            <a:ahLst/>
            <a:cxnLst/>
            <a:rect l="l" t="t" r="r" b="b"/>
            <a:pathLst>
              <a:path w="355300" h="491764" fill="norm" stroke="1" extrusionOk="0">
                <a:moveTo>
                  <a:pt x="0" y="0"/>
                </a:moveTo>
                <a:lnTo>
                  <a:pt x="355300" y="0"/>
                </a:lnTo>
                <a:lnTo>
                  <a:pt x="355300" y="491764"/>
                </a:lnTo>
                <a:lnTo>
                  <a:pt x="0" y="491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sp>
        <p:nvSpPr>
          <p:cNvPr id="605847931" name="TextBox 11"/>
          <p:cNvSpPr txBox="1"/>
          <p:nvPr/>
        </p:nvSpPr>
        <p:spPr bwMode="auto">
          <a:xfrm rot="0" flipH="0" flipV="0">
            <a:off x="1523823" y="920113"/>
            <a:ext cx="1520222" cy="22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lang="en-US" sz="2000" b="1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Cognis</a:t>
            </a:r>
            <a:endParaRPr sz="2000">
              <a:latin typeface="Iosevka"/>
              <a:cs typeface="Iosevk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560141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01236" y="2385230"/>
            <a:ext cx="8136913" cy="6414732"/>
          </a:xfrm>
          <a:prstGeom prst="rect">
            <a:avLst/>
          </a:prstGeom>
          <a:solidFill>
            <a:schemeClr val="bg1">
              <a:alpha val="99999"/>
            </a:schemeClr>
          </a:solidFill>
          <a:ln w="76200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0449044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394616" y="2385230"/>
            <a:ext cx="8134795" cy="6414732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485642733" name="Freeform 2"/>
          <p:cNvSpPr/>
          <p:nvPr/>
        </p:nvSpPr>
        <p:spPr bwMode="auto">
          <a:xfrm rot="0" flipH="0" flipV="0">
            <a:off x="1028700" y="782817"/>
            <a:ext cx="355298" cy="491763"/>
          </a:xfrm>
          <a:custGeom>
            <a:avLst/>
            <a:gdLst/>
            <a:ahLst/>
            <a:cxnLst/>
            <a:rect l="l" t="t" r="r" b="b"/>
            <a:pathLst>
              <a:path w="355300" h="491764" fill="norm" stroke="1" extrusionOk="0">
                <a:moveTo>
                  <a:pt x="0" y="0"/>
                </a:moveTo>
                <a:lnTo>
                  <a:pt x="355300" y="0"/>
                </a:lnTo>
                <a:lnTo>
                  <a:pt x="355300" y="491764"/>
                </a:lnTo>
                <a:lnTo>
                  <a:pt x="0" y="491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943975249" name="Freeform 3"/>
          <p:cNvSpPr/>
          <p:nvPr/>
        </p:nvSpPr>
        <p:spPr bwMode="auto">
          <a:xfrm rot="0" flipH="0" flipV="0">
            <a:off x="15748860" y="846502"/>
            <a:ext cx="1510438" cy="364392"/>
          </a:xfrm>
          <a:custGeom>
            <a:avLst/>
            <a:gdLst/>
            <a:ahLst/>
            <a:cxnLst/>
            <a:rect l="l" t="t" r="r" b="b"/>
            <a:pathLst>
              <a:path w="1510439" h="364393" fill="norm" stroke="1" extrusionOk="0">
                <a:moveTo>
                  <a:pt x="0" y="0"/>
                </a:moveTo>
                <a:lnTo>
                  <a:pt x="1510439" y="0"/>
                </a:lnTo>
                <a:lnTo>
                  <a:pt x="1510439" y="364394"/>
                </a:lnTo>
                <a:lnTo>
                  <a:pt x="0" y="364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196546017" name="AutoShape 4"/>
          <p:cNvSpPr/>
          <p:nvPr/>
        </p:nvSpPr>
        <p:spPr bwMode="auto">
          <a:xfrm>
            <a:off x="7575012" y="1009649"/>
            <a:ext cx="3137974" cy="0"/>
          </a:xfrm>
          <a:prstGeom prst="line">
            <a:avLst/>
          </a:prstGeom>
          <a:ln w="38100" cap="flat">
            <a:solidFill>
              <a:srgbClr val="101D2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95614477" name="TextBox 11"/>
          <p:cNvSpPr txBox="1"/>
          <p:nvPr/>
        </p:nvSpPr>
        <p:spPr bwMode="auto">
          <a:xfrm rot="0" flipH="0" flipV="0">
            <a:off x="1523822" y="920112"/>
            <a:ext cx="1520581" cy="22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8"/>
              </a:lnSpc>
              <a:defRPr/>
            </a:pPr>
            <a:r>
              <a:rPr lang="en-US" sz="2000" b="1">
                <a:solidFill>
                  <a:schemeClr val="tx1"/>
                </a:solidFill>
                <a:latin typeface="Iosevka"/>
                <a:ea typeface="Iosevka"/>
                <a:cs typeface="Iosevka"/>
              </a:rPr>
              <a:t>Cognis</a:t>
            </a:r>
            <a:endParaRPr sz="2000">
              <a:solidFill>
                <a:schemeClr val="tx1"/>
              </a:solidFill>
              <a:latin typeface="Iosevka"/>
              <a:cs typeface="Iosevk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35D9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963646" name="Freeform 3"/>
          <p:cNvSpPr/>
          <p:nvPr/>
        </p:nvSpPr>
        <p:spPr bwMode="auto">
          <a:xfrm rot="0" flipH="0" flipV="0">
            <a:off x="15748861" y="846503"/>
            <a:ext cx="1510439" cy="364393"/>
          </a:xfrm>
          <a:custGeom>
            <a:avLst/>
            <a:gdLst/>
            <a:ahLst/>
            <a:cxnLst/>
            <a:rect l="l" t="t" r="r" b="b"/>
            <a:pathLst>
              <a:path w="1510439" h="364393" fill="norm" stroke="1" extrusionOk="0">
                <a:moveTo>
                  <a:pt x="0" y="0"/>
                </a:moveTo>
                <a:lnTo>
                  <a:pt x="1510439" y="0"/>
                </a:lnTo>
                <a:lnTo>
                  <a:pt x="1510439" y="364394"/>
                </a:lnTo>
                <a:lnTo>
                  <a:pt x="0" y="364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sp>
        <p:nvSpPr>
          <p:cNvPr id="209536740" name="AutoShape 4"/>
          <p:cNvSpPr/>
          <p:nvPr/>
        </p:nvSpPr>
        <p:spPr bwMode="auto">
          <a:xfrm>
            <a:off x="7575013" y="1009650"/>
            <a:ext cx="313797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66719688" name="Group 5"/>
          <p:cNvGrpSpPr/>
          <p:nvPr/>
        </p:nvGrpSpPr>
        <p:grpSpPr bwMode="auto">
          <a:xfrm rot="0" flipH="0" flipV="0">
            <a:off x="1100861" y="3923730"/>
            <a:ext cx="16230600" cy="5615485"/>
            <a:chOff x="0" y="0"/>
            <a:chExt cx="16230600" cy="5615485"/>
          </a:xfrm>
        </p:grpSpPr>
        <p:sp>
          <p:nvSpPr>
            <p:cNvPr id="6" name="Freeform 6"/>
            <p:cNvSpPr/>
            <p:nvPr/>
          </p:nvSpPr>
          <p:spPr bwMode="auto">
            <a:xfrm rot="0" flipH="0" flipV="0">
              <a:off x="0" y="0"/>
              <a:ext cx="16230600" cy="5615485"/>
            </a:xfrm>
            <a:custGeom>
              <a:avLst/>
              <a:gdLst/>
              <a:ahLst/>
              <a:cxnLst/>
              <a:rect l="l" t="t" r="r" b="b"/>
              <a:pathLst>
                <a:path w="2613714" h="1202737" fill="norm" stroke="1" extrusionOk="0">
                  <a:moveTo>
                    <a:pt x="39786" y="0"/>
                  </a:moveTo>
                  <a:lnTo>
                    <a:pt x="2573928" y="0"/>
                  </a:lnTo>
                  <a:cubicBezTo>
                    <a:pt x="2595901" y="0"/>
                    <a:pt x="2613714" y="17813"/>
                    <a:pt x="2613714" y="39786"/>
                  </a:cubicBezTo>
                  <a:lnTo>
                    <a:pt x="2613714" y="1162951"/>
                  </a:lnTo>
                  <a:cubicBezTo>
                    <a:pt x="2613714" y="1184924"/>
                    <a:pt x="2595901" y="1202737"/>
                    <a:pt x="2573928" y="1202737"/>
                  </a:cubicBezTo>
                  <a:lnTo>
                    <a:pt x="39786" y="1202737"/>
                  </a:lnTo>
                  <a:cubicBezTo>
                    <a:pt x="29234" y="1202737"/>
                    <a:pt x="19115" y="1198545"/>
                    <a:pt x="11653" y="1191084"/>
                  </a:cubicBezTo>
                  <a:cubicBezTo>
                    <a:pt x="4192" y="1183623"/>
                    <a:pt x="0" y="1173503"/>
                    <a:pt x="0" y="1162951"/>
                  </a:cubicBezTo>
                  <a:lnTo>
                    <a:pt x="0" y="39786"/>
                  </a:lnTo>
                  <a:cubicBezTo>
                    <a:pt x="0" y="29234"/>
                    <a:pt x="4192" y="19115"/>
                    <a:pt x="11653" y="11653"/>
                  </a:cubicBezTo>
                  <a:cubicBezTo>
                    <a:pt x="19115" y="4192"/>
                    <a:pt x="29234" y="0"/>
                    <a:pt x="39786" y="0"/>
                  </a:cubicBezTo>
                  <a:close/>
                </a:path>
              </a:pathLst>
            </a:custGeom>
            <a:grpFill/>
            <a:ln w="47625" cap="rnd">
              <a:solidFill>
                <a:srgbClr val="F4FFFF"/>
              </a:solidFill>
              <a:prstDash val="solid"/>
              <a:round/>
            </a:ln>
          </p:spPr>
          <p:txBody>
            <a:bodyPr anchor="ctr"/>
            <a:p>
              <a:pPr algn="ctr">
                <a:defRPr/>
              </a:pPr>
              <a:endParaRPr>
                <a:latin typeface="Iosevka"/>
                <a:cs typeface="Iosevka"/>
              </a:endParaRPr>
            </a:p>
          </p:txBody>
        </p:sp>
        <p:sp>
          <p:nvSpPr>
            <p:cNvPr id="7" name="TextBox 7"/>
            <p:cNvSpPr txBox="1"/>
            <p:nvPr/>
          </p:nvSpPr>
          <p:spPr bwMode="auto">
            <a:xfrm>
              <a:off x="0" y="-177885"/>
              <a:ext cx="16230600" cy="579337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59"/>
                </a:lnSpc>
                <a:spcBef>
                  <a:spcPts val="0"/>
                </a:spcBef>
                <a:defRPr/>
              </a:pPr>
              <a:endParaRPr>
                <a:latin typeface="Iosevka"/>
                <a:cs typeface="Iosevka"/>
              </a:endParaRPr>
            </a:p>
          </p:txBody>
        </p:sp>
      </p:grpSp>
      <p:sp>
        <p:nvSpPr>
          <p:cNvPr id="1932744420" name="TextBox 9"/>
          <p:cNvSpPr txBox="1"/>
          <p:nvPr/>
        </p:nvSpPr>
        <p:spPr bwMode="auto">
          <a:xfrm rot="0" flipH="0" flipV="0">
            <a:off x="1028698" y="2244209"/>
            <a:ext cx="16232400" cy="914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defRPr/>
            </a:pPr>
            <a:r>
              <a:rPr lang="en-US" sz="72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What Makes MindCache </a:t>
            </a:r>
            <a:r>
              <a:rPr lang="en-US" sz="7200" b="1" i="0" u="none" strike="noStrike" cap="none" spc="0">
                <a:solidFill>
                  <a:schemeClr val="accent6"/>
                </a:solidFill>
                <a:latin typeface="Iosevka"/>
                <a:ea typeface="Iosevka"/>
                <a:cs typeface="Iosevka"/>
              </a:rPr>
              <a:t>Different</a:t>
            </a:r>
            <a:r>
              <a:rPr lang="en-US" sz="7200" b="1" i="0" u="none" strike="noStrike" cap="none" spc="0">
                <a:solidFill>
                  <a:schemeClr val="accent6"/>
                </a:solidFill>
                <a:latin typeface="Iosevka"/>
                <a:ea typeface="Iosevka"/>
                <a:cs typeface="Iosevka"/>
              </a:rPr>
              <a:t>?</a:t>
            </a:r>
            <a:endParaRPr>
              <a:latin typeface="Iosevka"/>
              <a:cs typeface="Iosevka"/>
            </a:endParaRPr>
          </a:p>
        </p:txBody>
      </p:sp>
      <p:sp>
        <p:nvSpPr>
          <p:cNvPr id="665510406" name="Freeform 7"/>
          <p:cNvSpPr/>
          <p:nvPr/>
        </p:nvSpPr>
        <p:spPr bwMode="auto">
          <a:xfrm rot="0" flipH="0" flipV="0">
            <a:off x="1028700" y="782816"/>
            <a:ext cx="355298" cy="491763"/>
          </a:xfrm>
          <a:custGeom>
            <a:avLst/>
            <a:gdLst/>
            <a:ahLst/>
            <a:cxnLst/>
            <a:rect l="l" t="t" r="r" b="b"/>
            <a:pathLst>
              <a:path w="355300" h="491764" fill="norm" stroke="1" extrusionOk="0">
                <a:moveTo>
                  <a:pt x="0" y="0"/>
                </a:moveTo>
                <a:lnTo>
                  <a:pt x="355300" y="0"/>
                </a:lnTo>
                <a:lnTo>
                  <a:pt x="355300" y="491764"/>
                </a:lnTo>
                <a:lnTo>
                  <a:pt x="0" y="491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sp>
        <p:nvSpPr>
          <p:cNvPr id="1795120354" name="TextBox 11"/>
          <p:cNvSpPr txBox="1"/>
          <p:nvPr/>
        </p:nvSpPr>
        <p:spPr bwMode="auto">
          <a:xfrm rot="0" flipH="0" flipV="0">
            <a:off x="1523823" y="920113"/>
            <a:ext cx="1520222" cy="22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lang="en-US" sz="2000" b="1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Cognis</a:t>
            </a:r>
            <a:endParaRPr sz="2000">
              <a:latin typeface="Iosevka"/>
              <a:cs typeface="Iosevka"/>
            </a:endParaRPr>
          </a:p>
        </p:txBody>
      </p:sp>
      <p:sp>
        <p:nvSpPr>
          <p:cNvPr id="447257307" name="TextBox 10"/>
          <p:cNvSpPr txBox="1"/>
          <p:nvPr/>
        </p:nvSpPr>
        <p:spPr bwMode="auto">
          <a:xfrm rot="0" flipH="0" flipV="0">
            <a:off x="1385077" y="4216693"/>
            <a:ext cx="15932476" cy="502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lang="en-US" sz="3000" b="1" i="0" u="none" strike="noStrike" cap="none" spc="0">
                <a:solidFill>
                  <a:schemeClr val="accent6"/>
                </a:solidFill>
                <a:latin typeface="Iosevka"/>
                <a:ea typeface="Iosevka"/>
                <a:cs typeface="Iosevka"/>
              </a:rPr>
              <a:t>Search By Memory, Not Keywords</a:t>
            </a:r>
            <a:r>
              <a:rPr lang="en-US" sz="30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 - </a:t>
            </a:r>
            <a:r>
              <a:rPr lang="en-US" sz="30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Instead of remembering exact titles,</a:t>
            </a:r>
            <a:r>
              <a:rPr lang="en-US" sz="30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 </a:t>
            </a:r>
            <a:r>
              <a:rPr lang="en-US" sz="30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links, or filenames, users can search</a:t>
            </a:r>
            <a:r>
              <a:rPr lang="en-US" sz="3000" b="0" i="0" u="none" strike="noStrike" cap="none" spc="0">
                <a:solidFill>
                  <a:srgbClr val="F4FFFF"/>
                </a:solidFill>
                <a:latin typeface="Iosevka"/>
                <a:cs typeface="Iosevka"/>
              </a:rPr>
              <a:t> using what they remember.</a:t>
            </a:r>
            <a:endParaRPr lang="en-US" sz="3000" b="1" i="0" u="none" strike="noStrike" cap="none" spc="0">
              <a:solidFill>
                <a:srgbClr val="F4FFFF"/>
              </a:solidFill>
              <a:latin typeface="Iosevka"/>
              <a:ea typeface="Iosevka"/>
              <a:cs typeface="Iosevka"/>
            </a:endParaRPr>
          </a:p>
          <a:p>
            <a:pPr>
              <a:defRPr/>
            </a:pPr>
            <a:endParaRPr lang="en-US" sz="3000" b="1" i="0" u="none" strike="noStrike" cap="none" spc="0">
              <a:solidFill>
                <a:srgbClr val="F4FFFF"/>
              </a:solidFill>
              <a:latin typeface="Iosevka"/>
              <a:cs typeface="Iosevka"/>
            </a:endParaRPr>
          </a:p>
          <a:p>
            <a:pPr>
              <a:defRPr/>
            </a:pPr>
            <a:r>
              <a:rPr lang="en-US" sz="3000" b="1" i="0" u="none" strike="noStrike" cap="none" spc="0">
                <a:solidFill>
                  <a:schemeClr val="accent6"/>
                </a:solidFill>
                <a:latin typeface="Iosevka"/>
                <a:ea typeface="Iosevka"/>
                <a:cs typeface="Iosevka"/>
              </a:rPr>
              <a:t>Private &amp; Local First</a:t>
            </a:r>
            <a:r>
              <a:rPr lang="en-US" sz="30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 - </a:t>
            </a:r>
            <a:r>
              <a:rPr lang="en-US" sz="30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All AI processing, indexing, and search</a:t>
            </a:r>
            <a:r>
              <a:rPr lang="en-US" sz="30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 </a:t>
            </a:r>
            <a:r>
              <a:rPr lang="en-US" sz="30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run entirely on the user’s machine. No CLOUD. No TRACKING. No DATA LEAKS.</a:t>
            </a:r>
            <a:endParaRPr lang="en-US" sz="3000" b="1" i="0" u="none" strike="noStrike" cap="none" spc="0">
              <a:solidFill>
                <a:srgbClr val="F4FFFF"/>
              </a:solidFill>
              <a:latin typeface="Iosevka"/>
              <a:ea typeface="Iosevka"/>
              <a:cs typeface="Iosevka"/>
            </a:endParaRPr>
          </a:p>
          <a:p>
            <a:pPr>
              <a:defRPr/>
            </a:pPr>
            <a:endParaRPr lang="en-US" sz="3000" b="1" i="0" u="none" strike="noStrike" cap="none" spc="0">
              <a:solidFill>
                <a:srgbClr val="F4FFFF"/>
              </a:solidFill>
              <a:latin typeface="Iosevka"/>
              <a:cs typeface="Iosevka"/>
            </a:endParaRPr>
          </a:p>
          <a:p>
            <a:pPr>
              <a:defRPr/>
            </a:pPr>
            <a:r>
              <a:rPr lang="en-US" sz="3000" b="1" i="0" u="none" strike="noStrike" cap="none" spc="0">
                <a:solidFill>
                  <a:schemeClr val="accent6"/>
                </a:solidFill>
                <a:latin typeface="Iosevka"/>
                <a:ea typeface="Iosevka"/>
                <a:cs typeface="Iosevka"/>
              </a:rPr>
              <a:t>Understands Multiple Content Types</a:t>
            </a:r>
            <a:r>
              <a:rPr lang="en-US" sz="30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 - </a:t>
            </a:r>
            <a:r>
              <a:rPr lang="en-US" sz="30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Websites, YouTube videos, GitHub repositories, PDF Documents ~ nothing is incomprehensible.</a:t>
            </a:r>
            <a:endParaRPr lang="en-US" sz="3000" b="1" i="0" u="none" strike="noStrike" cap="none" spc="0">
              <a:solidFill>
                <a:srgbClr val="F4FFFF"/>
              </a:solidFill>
              <a:latin typeface="Iosevka"/>
              <a:ea typeface="Iosevka"/>
              <a:cs typeface="Iosevka"/>
            </a:endParaRPr>
          </a:p>
          <a:p>
            <a:pPr>
              <a:defRPr/>
            </a:pPr>
            <a:endParaRPr lang="en-US" sz="3000" b="1" i="0" u="none" strike="noStrike" cap="none" spc="0">
              <a:solidFill>
                <a:srgbClr val="F4FFFF"/>
              </a:solidFill>
              <a:latin typeface="Iosevka"/>
              <a:cs typeface="Iosevka"/>
            </a:endParaRPr>
          </a:p>
          <a:p>
            <a:pPr>
              <a:defRPr/>
            </a:pPr>
            <a:r>
              <a:rPr lang="en-US" sz="3000" b="1" i="0" u="none" strike="noStrike" cap="none" spc="0">
                <a:solidFill>
                  <a:schemeClr val="accent6"/>
                </a:solidFill>
                <a:latin typeface="Iosevka"/>
                <a:ea typeface="Iosevka"/>
                <a:cs typeface="Iosevka"/>
              </a:rPr>
              <a:t>Builds Personal Knowledge</a:t>
            </a:r>
            <a:r>
              <a:rPr lang="en-US" sz="3000" b="1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 - </a:t>
            </a:r>
            <a:r>
              <a:rPr lang="en-US" sz="30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MindCache doesn't store links.</a:t>
            </a:r>
            <a:r>
              <a:rPr lang="en-US" sz="30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 It stores understanding. keywords, entities, relationships and concepts </a:t>
            </a:r>
            <a:r>
              <a:rPr lang="en-US" sz="3000" b="0" i="0" u="none" strike="noStrike" cap="none" spc="0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becomes searchable.</a:t>
            </a:r>
            <a:endParaRPr lang="en-US" sz="3000" b="1" i="0" u="none" strike="noStrike" cap="none" spc="0">
              <a:solidFill>
                <a:srgbClr val="F4FFFF"/>
              </a:solidFill>
              <a:latin typeface="Iosevka"/>
              <a:cs typeface="Iosevk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685694" name="Freeform 2"/>
          <p:cNvSpPr/>
          <p:nvPr/>
        </p:nvSpPr>
        <p:spPr bwMode="auto">
          <a:xfrm rot="0" flipH="0" flipV="0">
            <a:off x="1028700" y="782818"/>
            <a:ext cx="355299" cy="491764"/>
          </a:xfrm>
          <a:custGeom>
            <a:avLst/>
            <a:gdLst/>
            <a:ahLst/>
            <a:cxnLst/>
            <a:rect l="l" t="t" r="r" b="b"/>
            <a:pathLst>
              <a:path w="355300" h="491764" fill="norm" stroke="1" extrusionOk="0">
                <a:moveTo>
                  <a:pt x="0" y="0"/>
                </a:moveTo>
                <a:lnTo>
                  <a:pt x="355300" y="0"/>
                </a:lnTo>
                <a:lnTo>
                  <a:pt x="355300" y="491764"/>
                </a:lnTo>
                <a:lnTo>
                  <a:pt x="0" y="491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080359533" name="Freeform 3"/>
          <p:cNvSpPr/>
          <p:nvPr/>
        </p:nvSpPr>
        <p:spPr bwMode="auto">
          <a:xfrm rot="0" flipH="0" flipV="0">
            <a:off x="15748861" y="846503"/>
            <a:ext cx="1510439" cy="364393"/>
          </a:xfrm>
          <a:custGeom>
            <a:avLst/>
            <a:gdLst/>
            <a:ahLst/>
            <a:cxnLst/>
            <a:rect l="l" t="t" r="r" b="b"/>
            <a:pathLst>
              <a:path w="1510439" h="364393" fill="norm" stroke="1" extrusionOk="0">
                <a:moveTo>
                  <a:pt x="0" y="0"/>
                </a:moveTo>
                <a:lnTo>
                  <a:pt x="1510439" y="0"/>
                </a:lnTo>
                <a:lnTo>
                  <a:pt x="1510439" y="364394"/>
                </a:lnTo>
                <a:lnTo>
                  <a:pt x="0" y="364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91416778" name="AutoShape 4"/>
          <p:cNvSpPr/>
          <p:nvPr/>
        </p:nvSpPr>
        <p:spPr bwMode="auto">
          <a:xfrm>
            <a:off x="7575013" y="1009650"/>
            <a:ext cx="3137975" cy="0"/>
          </a:xfrm>
          <a:prstGeom prst="line">
            <a:avLst/>
          </a:prstGeom>
          <a:ln w="38100" cap="flat">
            <a:solidFill>
              <a:srgbClr val="101D2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90112814" name="TextBox 12"/>
          <p:cNvSpPr txBox="1"/>
          <p:nvPr/>
        </p:nvSpPr>
        <p:spPr bwMode="auto">
          <a:xfrm rot="0">
            <a:off x="4545352" y="1274581"/>
            <a:ext cx="9197295" cy="914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defRPr/>
            </a:pPr>
            <a:r>
              <a:rPr lang="en-US" sz="7200" b="1">
                <a:solidFill>
                  <a:srgbClr val="101D26"/>
                </a:solidFill>
                <a:latin typeface="Iosevka"/>
                <a:ea typeface="Iosevka"/>
                <a:cs typeface="Iosevka"/>
              </a:rPr>
              <a:t>How It Works ?</a:t>
            </a:r>
            <a:endParaRPr>
              <a:latin typeface="Iosevka"/>
              <a:cs typeface="Iosevka"/>
            </a:endParaRPr>
          </a:p>
        </p:txBody>
      </p:sp>
      <p:sp>
        <p:nvSpPr>
          <p:cNvPr id="623219772" name="TextBox 11"/>
          <p:cNvSpPr txBox="1"/>
          <p:nvPr/>
        </p:nvSpPr>
        <p:spPr bwMode="auto">
          <a:xfrm rot="0" flipH="0" flipV="0">
            <a:off x="1523823" y="920113"/>
            <a:ext cx="1520222" cy="22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lang="en-US" sz="2000" b="1">
                <a:solidFill>
                  <a:schemeClr val="tx1"/>
                </a:solidFill>
                <a:latin typeface="Iosevka"/>
                <a:ea typeface="Iosevka"/>
                <a:cs typeface="Iosevka"/>
              </a:rPr>
              <a:t>Cognis</a:t>
            </a:r>
            <a:endParaRPr sz="2000">
              <a:solidFill>
                <a:schemeClr val="tx1"/>
              </a:solidFill>
              <a:latin typeface="Iosevka"/>
              <a:cs typeface="Iosevka"/>
            </a:endParaRPr>
          </a:p>
        </p:txBody>
      </p:sp>
      <p:pic>
        <p:nvPicPr>
          <p:cNvPr id="125908621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29558" y="2686902"/>
            <a:ext cx="4006363" cy="639738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2"/>
            </a:solidFill>
            <a:prstDash val="solid"/>
          </a:ln>
        </p:spPr>
      </p:pic>
      <p:pic>
        <p:nvPicPr>
          <p:cNvPr id="1076416879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189130" y="2686902"/>
            <a:ext cx="12383815" cy="6397385"/>
          </a:xfrm>
          <a:prstGeom prst="rect">
            <a:avLst/>
          </a:prstGeom>
          <a:ln w="76200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130992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3333" r="0" b="-3331"/>
            </a:stretch>
          </a:blipFill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grpSp>
        <p:nvGrpSpPr>
          <p:cNvPr id="310022635" name="Group 3"/>
          <p:cNvGrpSpPr/>
          <p:nvPr/>
        </p:nvGrpSpPr>
        <p:grpSpPr bwMode="auto">
          <a:xfrm rot="0">
            <a:off x="858219" y="870822"/>
            <a:ext cx="16571559" cy="8545353"/>
            <a:chOff x="0" y="0"/>
            <a:chExt cx="4364525" cy="2250627"/>
          </a:xfrm>
        </p:grpSpPr>
        <p:sp>
          <p:nvSpPr>
            <p:cNvPr id="1663222747" name="Freeform 4"/>
            <p:cNvSpPr/>
            <p:nvPr/>
          </p:nvSpPr>
          <p:spPr bwMode="auto">
            <a:xfrm rot="0" flipH="0" flipV="0">
              <a:off x="0" y="0"/>
              <a:ext cx="4364525" cy="2250627"/>
            </a:xfrm>
            <a:custGeom>
              <a:avLst/>
              <a:gdLst/>
              <a:ahLst/>
              <a:cxnLst/>
              <a:rect l="l" t="t" r="r" b="b"/>
              <a:pathLst>
                <a:path w="4364526" h="2250628" fill="norm" stroke="1" extrusionOk="0">
                  <a:moveTo>
                    <a:pt x="23826" y="0"/>
                  </a:moveTo>
                  <a:lnTo>
                    <a:pt x="4340700" y="0"/>
                  </a:lnTo>
                  <a:cubicBezTo>
                    <a:pt x="4347019" y="0"/>
                    <a:pt x="4353079" y="2510"/>
                    <a:pt x="4357548" y="6979"/>
                  </a:cubicBezTo>
                  <a:cubicBezTo>
                    <a:pt x="4362016" y="11447"/>
                    <a:pt x="4364526" y="17507"/>
                    <a:pt x="4364526" y="23826"/>
                  </a:cubicBezTo>
                  <a:lnTo>
                    <a:pt x="4364526" y="2226802"/>
                  </a:lnTo>
                  <a:cubicBezTo>
                    <a:pt x="4364526" y="2233121"/>
                    <a:pt x="4362016" y="2239182"/>
                    <a:pt x="4357548" y="2243650"/>
                  </a:cubicBezTo>
                  <a:cubicBezTo>
                    <a:pt x="4353079" y="2248118"/>
                    <a:pt x="4347019" y="2250628"/>
                    <a:pt x="4340700" y="2250628"/>
                  </a:cubicBezTo>
                  <a:lnTo>
                    <a:pt x="23826" y="2250628"/>
                  </a:lnTo>
                  <a:cubicBezTo>
                    <a:pt x="17507" y="2250628"/>
                    <a:pt x="11447" y="2248118"/>
                    <a:pt x="6979" y="2243650"/>
                  </a:cubicBezTo>
                  <a:cubicBezTo>
                    <a:pt x="2510" y="2239182"/>
                    <a:pt x="0" y="2233121"/>
                    <a:pt x="0" y="2226802"/>
                  </a:cubicBezTo>
                  <a:lnTo>
                    <a:pt x="0" y="23826"/>
                  </a:lnTo>
                  <a:cubicBezTo>
                    <a:pt x="0" y="17507"/>
                    <a:pt x="2510" y="11447"/>
                    <a:pt x="6979" y="6979"/>
                  </a:cubicBezTo>
                  <a:cubicBezTo>
                    <a:pt x="11447" y="2510"/>
                    <a:pt x="17507" y="0"/>
                    <a:pt x="23826" y="0"/>
                  </a:cubicBezTo>
                  <a:close/>
                </a:path>
              </a:pathLst>
            </a:custGeom>
            <a:grpFill/>
            <a:ln w="47625" cap="rnd">
              <a:solidFill>
                <a:srgbClr val="F4FFFF"/>
              </a:solidFill>
              <a:prstDash val="solid"/>
              <a:round/>
            </a:ln>
          </p:spPr>
          <p:txBody>
            <a:bodyPr anchor="ctr"/>
            <a:p>
              <a:pPr algn="ctr">
                <a:defRPr/>
              </a:pPr>
              <a:endParaRPr>
                <a:latin typeface="Iosevka"/>
                <a:cs typeface="Iosevka"/>
              </a:endParaRPr>
            </a:p>
          </p:txBody>
        </p:sp>
        <p:sp>
          <p:nvSpPr>
            <p:cNvPr id="1998131710" name="TextBox 5"/>
            <p:cNvSpPr txBox="1"/>
            <p:nvPr/>
          </p:nvSpPr>
          <p:spPr bwMode="auto">
            <a:xfrm>
              <a:off x="0" y="-38099"/>
              <a:ext cx="4364525" cy="228872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658"/>
                </a:lnSpc>
                <a:spcBef>
                  <a:spcPts val="0"/>
                </a:spcBef>
                <a:defRPr/>
              </a:pPr>
              <a:endParaRPr>
                <a:latin typeface="Iosevka"/>
                <a:cs typeface="Iosevka"/>
              </a:endParaRPr>
            </a:p>
          </p:txBody>
        </p:sp>
      </p:grpSp>
      <p:sp>
        <p:nvSpPr>
          <p:cNvPr id="36366045" name="Freeform 6"/>
          <p:cNvSpPr/>
          <p:nvPr/>
        </p:nvSpPr>
        <p:spPr bwMode="auto">
          <a:xfrm rot="0" flipH="0" flipV="0">
            <a:off x="14708243" y="1936080"/>
            <a:ext cx="1510438" cy="364392"/>
          </a:xfrm>
          <a:custGeom>
            <a:avLst/>
            <a:gdLst/>
            <a:ahLst/>
            <a:cxnLst/>
            <a:rect l="l" t="t" r="r" b="b"/>
            <a:pathLst>
              <a:path w="1510439" h="364393" fill="norm" stroke="1" extrusionOk="0">
                <a:moveTo>
                  <a:pt x="0" y="0"/>
                </a:moveTo>
                <a:lnTo>
                  <a:pt x="1510439" y="0"/>
                </a:lnTo>
                <a:lnTo>
                  <a:pt x="1510439" y="364394"/>
                </a:lnTo>
                <a:lnTo>
                  <a:pt x="0" y="364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sp>
        <p:nvSpPr>
          <p:cNvPr id="864891325" name="Freeform 7"/>
          <p:cNvSpPr/>
          <p:nvPr/>
        </p:nvSpPr>
        <p:spPr bwMode="auto">
          <a:xfrm rot="0" flipH="0" flipV="0">
            <a:off x="2097891" y="1872396"/>
            <a:ext cx="355298" cy="491763"/>
          </a:xfrm>
          <a:custGeom>
            <a:avLst/>
            <a:gdLst/>
            <a:ahLst/>
            <a:cxnLst/>
            <a:rect l="l" t="t" r="r" b="b"/>
            <a:pathLst>
              <a:path w="355300" h="491764" fill="norm" stroke="1" extrusionOk="0">
                <a:moveTo>
                  <a:pt x="0" y="0"/>
                </a:moveTo>
                <a:lnTo>
                  <a:pt x="355300" y="0"/>
                </a:lnTo>
                <a:lnTo>
                  <a:pt x="355300" y="491764"/>
                </a:lnTo>
                <a:lnTo>
                  <a:pt x="0" y="491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  <p:txBody>
          <a:bodyPr anchor="ctr"/>
          <a:p>
            <a:pPr algn="ctr">
              <a:defRPr/>
            </a:pPr>
            <a:endParaRPr>
              <a:latin typeface="Iosevka"/>
              <a:cs typeface="Iosevka"/>
            </a:endParaRPr>
          </a:p>
        </p:txBody>
      </p:sp>
      <p:sp>
        <p:nvSpPr>
          <p:cNvPr id="253781567" name="TextBox 9"/>
          <p:cNvSpPr txBox="1"/>
          <p:nvPr/>
        </p:nvSpPr>
        <p:spPr bwMode="auto">
          <a:xfrm rot="0">
            <a:off x="3164078" y="4590870"/>
            <a:ext cx="11969918" cy="1105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99"/>
              </a:lnSpc>
              <a:defRPr/>
            </a:pPr>
            <a:r>
              <a:rPr lang="en-US" sz="8700" b="1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Thank You!</a:t>
            </a:r>
            <a:endParaRPr>
              <a:latin typeface="Iosevka"/>
              <a:cs typeface="Iosevka"/>
            </a:endParaRPr>
          </a:p>
        </p:txBody>
      </p:sp>
      <p:sp>
        <p:nvSpPr>
          <p:cNvPr id="1865091451" name="TextBox 11"/>
          <p:cNvSpPr txBox="1"/>
          <p:nvPr/>
        </p:nvSpPr>
        <p:spPr bwMode="auto">
          <a:xfrm rot="0" flipH="0" flipV="0">
            <a:off x="2593013" y="2009691"/>
            <a:ext cx="1519142" cy="228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9"/>
              </a:lnSpc>
              <a:defRPr/>
            </a:pPr>
            <a:r>
              <a:rPr lang="en-US" sz="2000" b="1">
                <a:solidFill>
                  <a:srgbClr val="F4FFFF"/>
                </a:solidFill>
                <a:latin typeface="Iosevka"/>
                <a:ea typeface="Iosevka"/>
                <a:cs typeface="Iosevka"/>
              </a:rPr>
              <a:t>Cognis</a:t>
            </a:r>
            <a:endParaRPr sz="2000">
              <a:latin typeface="Iosevka"/>
              <a:cs typeface="Iosevk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MindCache: Personal Browser Memory Engine</dc:title>
  <dc:identifier>DAHLTFqp3TE</dc:identifier>
  <cp:lastModifiedBy/>
  <cp:revision>4</cp:revision>
  <dcterms:created xsi:type="dcterms:W3CDTF">2006-08-16T00:00:00Z</dcterms:created>
  <dcterms:modified xsi:type="dcterms:W3CDTF">2026-06-08T15:43:24Z</dcterms:modified>
</cp:coreProperties>
</file>